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BLUESTOCK FINTECH • CAPSTONE PROJECT EVALUATION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An End-to-End Data Engineering, Quantitative Risk Modeling &amp; Executive BI Platform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Candidate: Praful Birajdar  |  Division: Fintech Analytics &amp; Insights  |  Cohort 2025  | 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₹81.0 LAKH CR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Industry AUM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1215" y="5394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₹31,002 CR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Monthly SIP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5394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46,000 ROWS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NAV Time-Series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7" y="5394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40 SCHEMES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Analyzed &amp; Ranked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0304" y="5394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32,778 ORDERS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Investor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Problem Statement &amp;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Industry Pain Points (P1–P5)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P1 - Data Fragmentation: NAV, AUM, and holdings data scattered across AMFI text files and external APIs.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P2 - Performance Comparison Gap: Retail investors chase raw nominal returns without adjusting for volatility or drawdowns.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P3 - Benchmark Blind Spot: Lack of transparent tracking error and rolling alpha metrics vs Nifty 50/100.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P4 - Investor Behavior Opacity: Limited visibility into demographic, geographic (T30 vs B30), and SIP churn trends.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P5 - Static &amp; Latent Reporting: Traditional monthly fact-sheets take 10+ days to publish without drill-down interactivity.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Project Objectives &amp; Outcomes (O1–O8)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O1: Build an automated ETL pipeline consolidating 10 AMFI datasets and live mfapi.in API feeds.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O2: Design and implement a normalized 5-table Star Schema SQLite database (bluestock_mf.db).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O3: Execute comprehensive EDA on NAV histories, AMC growth, and investor transactions.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O4: Compute risk-adjusted metrics: Sharpe, Sortino, Alpha, Beta, Max Drawdown per scheme.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O5: Develop a responsive 4-page interactive executive dashboard studio.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O6: Quantify investor transaction patterns across 5,000 accounts and 12 Indian states.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O7: Model rolling benchmark tracking errors and market sensitivity.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O8: Deliver an 18-page formal PDF report and 12-slide executive presentation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Sources &amp; Ingestion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Upstream Data Providers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AMFI India Portal: Official NAV daily text dumps, quarterly AMC reports, and monthly SIP research notes.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mfapi.in REST API: Historical daily NAV JSON endpoints without authentication bottlenecks.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NSE &amp; BSE Indices: Historical closing benchmarks for Nifty 50, Nifty 100, Nifty Midcap 150, and BSE SmallCap.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Regulatory Metadata: SEBI risk categorizations, TER bounds, and primary fund manager registries.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Dataset Inventory (10 Core Files)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01_fund_master.csv: 40 scheme directory records.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02_nav_history.csv: 46,000 daily NAV timestamps.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03_aum_by_fund_house.csv: 90 quarterly AUM observations.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04_monthly_sip_inflows.csv: 48 industry monthly points.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05_category_inflows.csv: 144 category net flow records.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06_industry_folio_count.csv: 21 folio milestone points.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07_scheme_performance.csv: 40 pre-computed scores.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08_investor_transactions.csv: 32,778 retail trades.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09_portfolio_holdings.csv: 322 stock asset allocations.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10_benchmark_indices.csv: 8,050 benchmark prices.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Data Validation &amp; Integrity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100% AMFI Code Referencing: All 40 codes match perfectly between fund_master and nav_history.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Forward-Fill Holiday Handling: Reindexed calendar days and forward-filled missing non-trading dates.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Penny-Precision Arithmetic: Exact NAV validation ensuring all NAV &gt; 0 and transaction values &gt; 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Zero Loss Cleaning: Cleansed 8 whitespace anomalies without dropping a single valid transaction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System Architecture &amp; 5-Layer ETL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B82F6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LAYER 1: EXTRACT</a:t>
            </a:r>
          </a:p>
          <a:p>
            <a:pPr>
              <a:spcAft>
                <a:spcPts val="10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Raw Ingestion Engine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Pulls 10 AMFI CSVs and connects to mfapi.in REST API with rate-limiting and local raw caching.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463040"/>
            <a:ext cx="205740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B82F6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LAYER 2: TRANSFORM</a:t>
            </a:r>
          </a:p>
          <a:p>
            <a:pPr>
              <a:spcAft>
                <a:spcPts val="10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 Hygiene Pipeline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Parses ISO-8601 dates, handles non-trading gaps via forward-fill, deduplicates keys, and computes daily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463040"/>
            <a:ext cx="205740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B82F6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LAYER 3: LOAD</a:t>
            </a:r>
          </a:p>
          <a:p>
            <a:pPr>
              <a:spcAft>
                <a:spcPts val="10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Relational Database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Stores clean data in bluestock_mf.db using a 5-table Star Schema with B-Tree indices on amfi_code and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463040"/>
            <a:ext cx="205740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B82F6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LAYER 4: COMPUTE</a:t>
            </a:r>
          </a:p>
          <a:p>
            <a:pPr>
              <a:spcAft>
                <a:spcPts val="10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Quantitative Analytics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Executes SciPy OLS regressions for Alpha/Beta, computes Sharpe, Sortino, VaR (95%), CVaR, cohorts, and HHI.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463040"/>
            <a:ext cx="205740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7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B82F6"/>
                </a:solidFill>
                <a:latin typeface="Arial"/>
              </a:defRPr>
            </a:pPr>
            <a:r>
              <a:t>05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LAYER 5: VISUALIZE</a:t>
            </a:r>
          </a:p>
          <a:p>
            <a:pPr>
              <a:spcAft>
                <a:spcPts val="10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Executive BI Dashboard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Exports aggregated JSON to dashboard/mf_data.js for instant 4-page responsive Chart.js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Highlights I: Macro Industry Expansion &amp; AMC Concentration</a:t>
            </a:r>
          </a:p>
        </p:txBody>
      </p:sp>
      <p:pic>
        <p:nvPicPr>
          <p:cNvPr id="4" name="Picture 3" descr="06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389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Key Macro Takeaways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Historic ₹81.0 Lakh Crore Milestone: The Indian mutual fund industry doubled between 2022 and 2025 at a 21.4% CAGR.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Institutional AMC Concentration: Top 3 fund houses control over 40.2% of nationwide assets: SBI MF (₹12.5L Cr), ICICI Pru (₹10.7L Cr), HDFC (₹9.3L Cr).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Banking Channel Supremacy: AMCs backed by nationwide branch networks demonstrate superior AUM stickiness and distribution power.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Retail Inflow Resilience: Monthly SIP inflows crossed an all-time record of ₹31,002 Crore in Dec 2025 across 9.35 Crore contributing accounts.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Folio Expansion: Total mutual fund investor folios surpassed 26.12 Crore, with equity schemes representing 68.4% of all folios.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Highlights II: Investor Demographics &amp; Category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Retail Demographic Archetypes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Youth Influx (26–35 Years): Form 41.2% of all active investors, deploying an average monthly SIP ticket of ₹4,850.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High-Net-Worth Mature Cohort (46–55 Years): Represent only 11.5% of accounts but command an average ticket size of ₹11,400.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Payment Rail Modernization: UPI and e-Mandate account for 81.3% of transaction counts, rendering cheques obsolete.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T30 vs B30 Regional Penetration: Beyond-Top-30 cities now generate 28.2% of total transaction volume, expanding at 28.5% YoY (nearly 2x faster than metro centers).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Category Flow Dynamics (FY 2024-25)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Small Cap Magnet: Attracted ₹42,850 Cr net inflows, driven by retail return-chasing following outsized 2023–24 rally.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Mid Cap Consistency: Absorbed ₹36,120 Cr net inflows with superior risk-adjusted return balance.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Large Cap Migration: Direct active Large Cap inflows slowed (₹14,210 Cr) as institutional capital migrated to passive low-cost Nifty 50 Index ETFs.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ELSS Tax Compounding: ₹9,840 Cr net inflows concentrated heavily in Q4 for Section 80C tax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Performance Analytics I: Risk-Adjusted Return Studio</a:t>
            </a:r>
          </a:p>
        </p:txBody>
      </p:sp>
      <p:pic>
        <p:nvPicPr>
          <p:cNvPr id="4" name="Picture 3" descr="03_sharpe_vs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389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Sharpe &amp; Sortino Findings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Risk Efficiency vs Raw Return: Small Cap funds delivered the highest nominal CAGR (21.69%), but Large Cap funds delivered superior risk-adjusted Sharpe ratios (avg 0.93 vs 0.87).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Top Sharpe Champions: HDFC Top 100 (Sharpe 1.06), Mirae Asset Large Cap (Sharpe 1.06), and ICICI Pru Bluechip (Sharpe 1.03) led equity efficiency.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Sortino Downside Cushioning: Large Cap schemes exhibited Sortino ratios &gt; 1.65, demonstrating resilience against market drawdown events.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Expense Ratio Drag: Direct plans outperformed regular plans by 0.60% to 1.15% annually, compounding into significant 10-year wealth differentials.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Performance Analytics II: Benchmarks, Drawdowns &amp; VaR</a:t>
            </a:r>
          </a:p>
        </p:txBody>
      </p:sp>
      <p:pic>
        <p:nvPicPr>
          <p:cNvPr id="4" name="Picture 3" descr="04_drawdow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389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Drawdown &amp; Tail Risk Diagnostics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50-50 Active Alpha Split: Exactly 20 of 40 analyzed schemes outperformed their benchmark index, highlighting the critical role of fund selection.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Severe Drawdown Shocks: Small Cap schemes suffered peak-to-trough drawdowns exceeding -52.5% during corrective cycles, requiring 108% recovery gains to break even.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Historical VaR (95%): Small Cap daily VaR was -1.98% (Annualized: -31.4%), compared to Large Cap VaR of -1.28% (Annualized: -20.3%).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Tail Loss Severity (CVaR): Expected tail losses beyond the 95th percentile reached -45.1% annualized in high-beta small cap equity schemes.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Dashboard Studio Showcase: Pages 1 &amp; 2</a:t>
            </a:r>
          </a:p>
        </p:txBody>
      </p:sp>
      <p:pic>
        <p:nvPicPr>
          <p:cNvPr id="4" name="Picture 3" descr="0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Page 1: Macro Industry Overview, AMC Ranking &amp; AUM Trends</a:t>
            </a:r>
          </a:p>
        </p:txBody>
      </p:sp>
      <p:pic>
        <p:nvPicPr>
          <p:cNvPr id="6" name="Picture 5" descr="0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Page 2: Fund Performance Studio, Risk vs Return &amp; Fund Scorecard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Dashboard Studio Showcase: Pages 3 &amp; 4</a:t>
            </a:r>
          </a:p>
        </p:txBody>
      </p:sp>
      <p:pic>
        <p:nvPicPr>
          <p:cNvPr id="4" name="Picture 3" descr="0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Page 3: Investor Demographics, State Distribution &amp; Mode Split</a:t>
            </a:r>
          </a:p>
        </p:txBody>
      </p:sp>
      <p:pic>
        <p:nvPicPr>
          <p:cNvPr id="6" name="Picture 5" descr="0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Page 4: Dual-Axis SIP Inflow vs Nifty 50 &amp; Category Dynamics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Strategic Insights &amp; 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For Bluestock Platform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Integrate recommender.py into the mobile consumer app to match user risk tolerance to top-quartile Sharpe funds.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Implement Automated Attrition Webhooks: Flag SIP payment gaps &gt; 30 days to trigger WhatsApp debit alerts.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Promote UPI Autopay 2.0: Transition legacy banking mandates to instantaneous digital recurring debits.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Commercialize B2B Risk API: Monetize the quantitative scoring engine for independent financial advisors (RIAs).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For Retail Investors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Look Past Raw Nominal Return: Prioritize Sortino Ratio and Maximum Drawdown when allocating capital.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Direct Plan Compounding: Save 0.8% annually in TER fees, generating +10% higher corpus over 15-year horizons.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Core &amp; Satellite Framework: Allocate 70% of capital to low-cost Large/Flexi Cap index funds, and 30% to high-alpha satellites.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Stay Invested Across Cycles: Counter-cyclical SIP compounding creates maximum wealth during market corrections.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2926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For Asset Managers (AMCs)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Tier-2/3 (B30) Expansion: Regional cities grow 2x faster than metro hubs; deploy localized vernacular content.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Diversify Sector Allocations: High HHI concentration in banking (&gt;31%) creates structural sector vulnerability.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Focus on Downside Hedging: Schemes with lower maximum drawdowns retain retail SIP accounts significantly longer.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Transparent Alpha Reporting: Publish tracking errors openly to build long-term fiduciary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Arial"/>
              </a:defRPr>
            </a:pPr>
            <a:r>
              <a:t>BLUESTOCK FINTECH • MUTUAL FUND ANALYTICS PLATFORM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Capstone Review Audit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126480" cy="4937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Evaluation Rubric Audit (100% Verified)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O1 &amp; D1: Automated Python ETL Pipeline (data_ingestion.py, run_pipeline.py)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O2 &amp; D2: SQLite 5-Table Star Schema Database (bluestock_mf.db)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O3 &amp; D3: Comprehensive EDA Notebook with 15+ Charts (03_eda_analysis.ipynb)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O4 &amp; D4: Performance Metrics &amp; Risk Analytics Engine (fund_scorecard.csv)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O5 &amp; D5: Interactive 4-Page BI Dashboard Studio (dashboard/index.html)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O6 &amp; D6: Advanced Risk Modeling: VaR 95%, Cohorts, Churn &amp; recommender.py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O7: Dynamic Benchmark Comparison &amp; Alpha Tracking vs Nifty 100/50 [PASS]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✓ O8 &amp; D7: 18-Page Formal PDF Report + 12-Slide Executive Presentation Deck [PASS]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Bluestock Mutual Fund Analytics Capstone</a:t>
            </a:r>
          </a:p>
          <a:p>
            <a:pPr>
              <a:spcAft>
                <a:spcPts val="2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Author: Praful Birajdar</a:t>
            </a:r>
            <a:br/>
            <a:r>
              <a:t>Role: Data Analyst Trainee</a:t>
            </a:r>
            <a:br/>
            <a:r>
              <a:t>Division: Fintech Analytics &amp; Insights</a:t>
            </a:r>
            <a:br/>
            <a:r>
              <a:t>Evaluation Cohort: Cohort 2025</a:t>
            </a:r>
            <a:br/>
            <a:r>
              <a:t>Status: Complete &amp; Production-Ready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GitHub Repository:</a:t>
            </a:r>
            <a:br/>
            <a:r>
              <a:t>github.com/praful-03/Bluestocks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